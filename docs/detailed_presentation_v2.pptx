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5943600" y="0"/>
            <a:ext cx="3200400" cy="5143500"/>
          </a:xfrm>
          <a:prstGeom prst="rtTriangl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06B6D4"/>
                </a:solidFill>
                <a:latin typeface="Arial"/>
              </a:defRPr>
            </a:pPr>
            <a:r>
              <a:t>SENTINEL AI</a:t>
            </a:r>
          </a:p>
          <a:p>
            <a:pPr>
              <a:spcAft>
                <a:spcPts val="2000"/>
              </a:spcAft>
              <a:defRPr sz="2000" b="1">
                <a:solidFill>
                  <a:srgbClr val="F1F5F9"/>
                </a:solidFill>
                <a:latin typeface="Arial"/>
              </a:defRPr>
            </a:pPr>
            <a:r>
              <a:t>National Digital Public Safety Intelligence Platform</a:t>
            </a:r>
          </a:p>
          <a:p>
            <a:pPr>
              <a:defRPr sz="1100" b="1">
                <a:solidFill>
                  <a:srgbClr val="A855F7"/>
                </a:solidFill>
                <a:latin typeface="Calibri"/>
              </a:defRPr>
            </a:pPr>
            <a:r>
              <a:t>TECHNICAL PRESENTATION · MULTI-AGENT THREAT MITIGATION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Abstract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Executive summary of the platform's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7772400" cy="320040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Arial"/>
              </a:defRPr>
            </a:pPr>
            <a:r>
              <a:t>🛡️ Executive Summary</a:t>
            </a:r>
          </a:p>
          <a:p>
            <a:pPr>
              <a:spcAft>
                <a:spcPts val="1000"/>
              </a:spcAft>
              <a:defRPr sz="1300">
                <a:solidFill>
                  <a:srgbClr val="F1F5F9"/>
                </a:solidFill>
                <a:latin typeface="Calibri"/>
              </a:defRPr>
            </a:pPr>
            <a:r>
              <a:t>SentinelAI is a production-grade, local-first safety monolith designed to intercept and prevent high-impact digital cybercrimes, including digital arrest scams, counterfeit currency circulation, and money mule network schemes.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By replacing traditional slow, manual feedback loops with automated multi-agency hooks, SentinelAI acts instantly to freeze fraud-associated bank assets and report scam telecom accounts. The platform aggregates forensic parameters into standard case dossiers, reducing cybercrime intervention latency from days to under 5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The evolving cyber-threat landscape in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749039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3474719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💥 Evolving Digital Crime Vectors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• CBI &amp; Customs Impersonation: Victims are placed under fake video custody, extorting life savings.</a:t>
            </a:r>
            <a:br/>
            <a:br/>
            <a:r>
              <a:t>• Bank Note Tampering: Sophisticated fake notes bypass standard merchant check controls.</a:t>
            </a:r>
            <a:br/>
            <a:br/>
            <a:r>
              <a:t>• Mule Account Velocity: Cloned IDs and mule networks launder stolen funds in under 10 minutes.</a:t>
            </a:r>
            <a:br/>
            <a:br/>
            <a:r>
              <a:t>• Reporting Gap: siloed operations and manual tasks prevent quick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80160"/>
            <a:ext cx="3749039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389888"/>
            <a:ext cx="3474719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🛡️ Core Solution Philosophy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• Unified Actors: A monolithic app coordinating citizens, police, banks, and telecom channels.</a:t>
            </a:r>
            <a:br/>
            <a:br/>
            <a:r>
              <a:t>• Autonomous Response: Deep learning pipelines trigger instant webhook actions.</a:t>
            </a:r>
            <a:br/>
            <a:br/>
            <a:r>
              <a:t>• Forensic Aggregation: Consolidates phone coordinates, voice patterns, and networks to assist law enforcement.</a:t>
            </a:r>
            <a:br/>
            <a:br/>
            <a:r>
              <a:t>• Multi-Agent Design: Scalable routers dispatch warnings to protect citizens.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Existing Systems &amp; Limitations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Evaluating standard cyber safety infrastructures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  <a:latin typeface="Arial"/>
              </a:defRPr>
            </a:pPr>
            <a:r>
              <a:t>🚨 Reactive Reporting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Platforms like cybercrime.gov.in serve primarily as record logs, prompting manual steps after funds are gone.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8016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38988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97316"/>
                </a:solidFill>
                <a:latin typeface="Arial"/>
              </a:defRPr>
            </a:pPr>
            <a:r>
              <a:t>📡 Siloed Operations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No direct communication links exist between banks, operators, and local patrolling police departments.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B308"/>
                </a:solidFill>
                <a:latin typeface="Arial"/>
              </a:defRPr>
            </a:pPr>
            <a:r>
              <a:t>⏱️ Delayed Actions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Bank accounts are flagged manually (takes 24-72 hrs), making asset recovery impossible.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92608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3580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C2626"/>
                </a:solidFill>
                <a:latin typeface="Arial"/>
              </a:defRPr>
            </a:pPr>
            <a:r>
              <a:t>🔍 Manual Verification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Counterfeits and phone voice recordings are verified manually by experts, delaying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Proposed SentinelAI Model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Platform components and modular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4114800" cy="3200400"/>
          </a:xfrm>
          <a:prstGeom prst="rect">
            <a:avLst/>
          </a:prstGeom>
          <a:solidFill>
            <a:srgbClr val="161C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93192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0" y="1280160"/>
            <a:ext cx="3520440" cy="3200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389888"/>
            <a:ext cx="3246120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💡 Monolithic Integration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• Unified Next.js Portal:</a:t>
            </a:r>
            <a:br/>
            <a:r>
              <a:t>  Separate workspaces for Citizen, Police Command, Bank Officer, Telecom Operator, and Admin.</a:t>
            </a:r>
            <a:br/>
            <a:br/>
            <a:r>
              <a:t>• Async FastAPI backend:</a:t>
            </a:r>
            <a:br/>
            <a:r>
              <a:t>  Integrates SQL database mapping, API endpoints, and background AI processes.</a:t>
            </a:r>
            <a:br/>
            <a:br/>
            <a:r>
              <a:t>• Graph Databases:</a:t>
            </a:r>
            <a:br/>
            <a:r>
              <a:t>  SQLite handles tabular metadata, while Neo4j maps transfer tracks. Graceful mock fallback ensures charts render.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Dataset Specifications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AI Model inputs, checkpoints, and formats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🎙️ Multilingual Scam Dataset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10,000+ labeled voice files in 12 Indian languages representing CBI, customs, and bank fraud moduses.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8016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38988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💵 Banknote Verification Templates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High-res scans of ₹100, ₹200, and ₹500 currency bills detailing security threads and watermarks.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🕸️ Bank Account Transaction Logs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Anonymized account details mapping transfer velocity, opening latency, and mule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92608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3580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🗺️ Geospatial Crime Coordinates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Geographic coordinates of past crime hotspots mapped on H3 hexagons with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Proposed Model Results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AI Performance and latency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828800" cy="12801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Arial"/>
              </a:defRPr>
            </a:pPr>
            <a:r>
              <a:t>94.3%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Scam Classification</a:t>
            </a:r>
            <a:br/>
            <a:r>
              <a:t>F1-score (IndicBERT)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0904" y="1280160"/>
            <a:ext cx="1828800" cy="12801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2344" y="13716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A855F7"/>
                </a:solidFill>
                <a:latin typeface="Arial"/>
              </a:defRPr>
            </a:pPr>
            <a:r>
              <a:t>99.1%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2344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Counterfeit Currency</a:t>
            </a:r>
            <a:br/>
            <a:r>
              <a:t>Check (YOLOv11)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1280160"/>
            <a:ext cx="1828800" cy="12801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3716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Arial"/>
              </a:defRPr>
            </a:pPr>
            <a:r>
              <a:t>0.97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Mule Node Graph</a:t>
            </a:r>
            <a:br/>
            <a:r>
              <a:t>AUC (GraphSAGE)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1112" y="1280160"/>
            <a:ext cx="1828800" cy="12801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13716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A855F7"/>
                </a:solidFill>
                <a:latin typeface="Arial"/>
              </a:defRPr>
            </a:pPr>
            <a:r>
              <a:t>&lt; 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1F5F9"/>
                </a:solidFill>
                <a:latin typeface="Calibri"/>
              </a:defRPr>
            </a:pPr>
            <a:r>
              <a:t>End-to-End Action</a:t>
            </a:r>
            <a:br/>
            <a:r>
              <a:t>Latency (LangGraph)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43200"/>
            <a:ext cx="7772400" cy="17373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52928"/>
            <a:ext cx="7498080" cy="1517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📈 Performance Verification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• IndicBERT Voice classification achieves 94.3% accuracy, parsing multi-language regional Indian accents efficiently.</a:t>
            </a:r>
            <a:br/>
            <a:r>
              <a:t>• YOLOv11 locates security thread segments, verifying watermarks and paper density in under 600ms.</a:t>
            </a:r>
            <a:br/>
            <a:r>
              <a:t>• GraphSAGE isolates suspicious transfer rings on Neo4j database, scoring mule velocites at 0.97 AUC.</a:t>
            </a:r>
            <a:br/>
            <a:r>
              <a:t>• FastAPI async architecture routes requests in under 500ms, triggering automation hooks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Comparison Analysis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SentinelAI compared to traditional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7772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80360"/>
                <a:gridCol w="2880360"/>
              </a:tblGrid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Feature Matrix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Legacy Portals (e.g. 1930 Portal)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Proposed SentinelAI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Action Latency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24 to 72 Hours (Manual verification)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Under 5 Minutes (Automated webhooks)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Cross-Agency Links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Manual paperwork request channels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Real-Time APIs (Bank hold &amp; Telecom disconnects)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AI Analytics Core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None (Static forms only)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IndicBERT Voice, GNN graphs, YOLOv11 check</a:t>
                      </a:r>
                    </a:p>
                  </a:txBody>
                  <a:tcPr>
                    <a:solidFill>
                      <a:srgbClr val="0A0F1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Police Command Center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Static CSV listings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rial"/>
                        </a:defRPr>
                      </a:pPr>
                      <a:r>
                        <a:t>Interactive Neo4j graphs &amp; H3 Hotspots map</a:t>
                      </a:r>
                    </a:p>
                  </a:txBody>
                  <a:tcPr>
                    <a:solidFill>
                      <a:srgbClr val="161C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Sustainable Development Goals Alignment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Mapping SentinelAI to UN Global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468880" cy="3017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219456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Goal 16: Peace &amp; Justice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Reduces digital scams, extortion, and public cybercrime. Automates judicial briefs with evidence aggregation to assist authorities.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468880" cy="3017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481328"/>
            <a:ext cx="219456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Goal 9: Industry &amp; Innovation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Introduces AI security rails and resilient digital public safety channels to guard modern financial infrastructures.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71600"/>
            <a:ext cx="2468880" cy="3017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481328"/>
            <a:ext cx="219456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Goal 8: Decent Work &amp; Growth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Secures transaction systems for citizens and merchants, building digital trust and sustaining financial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SentinelAI achievements and system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7772400" cy="914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74980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✔ Mitigating High-Risk Scams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intercepts digital arrests and spoof campaigns at the entry channel, neutralizing threats before victims complete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7772400" cy="914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74980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✔ Drastic Response Latency Reduction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replaces manual review pipelines with webhook triggers, enabling instant bank holds and operator SIM blocks.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7772400" cy="9144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84448"/>
            <a:ext cx="74980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✔ Scalable Architecture Ready for Production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FastAPI backend handles high concurrent queries effectively. Relies on mock failovers to ensure continuity.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Future Scope</a:t>
            </a:r>
          </a:p>
          <a:p>
            <a:pPr>
              <a:spcBef>
                <a:spcPts val="200"/>
              </a:spcBef>
              <a:defRPr sz="1000">
                <a:solidFill>
                  <a:srgbClr val="06B6D4"/>
                </a:solidFill>
                <a:latin typeface="Arial"/>
              </a:defRPr>
            </a:pPr>
            <a:r>
              <a:t>Roadmap for SentinelAI platform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05840"/>
            <a:ext cx="3886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1005840"/>
            <a:ext cx="3886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🔗 112 Command Integrations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Direct API connections to national emergency dispatch rooms to route ground units based on geospatial forecasts.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28016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38988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📱 Edge Inference Mobile Apps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Migrate lightweight YOLOv11 and voice classification models onto local mobile devices for offline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🛡️ Cross-Border Scam Analytics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Integrate international money logs and telecom carrier traces to detect offshore caller spoofing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926080"/>
            <a:ext cx="3749039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6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35808"/>
            <a:ext cx="347471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🧠 Self-Learning Loops</a:t>
            </a:r>
          </a:p>
          <a:p>
            <a:pPr>
              <a:spcAft>
                <a:spcPts val="0"/>
              </a:spcAft>
              <a:defRPr sz="1050">
                <a:solidFill>
                  <a:srgbClr val="F1F5F9"/>
                </a:solidFill>
                <a:latin typeface="Calibri"/>
              </a:defRPr>
            </a:pPr>
            <a:r>
              <a:t>Retrain scam templates and transaction graphs automatically based on feedback parameters collected on the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6400800" cy="2926080"/>
          </a:xfrm>
          <a:prstGeom prst="roundRect">
            <a:avLst/>
          </a:prstGeom>
          <a:solidFill>
            <a:srgbClr val="161C2D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1280160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06B6D4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18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Questions &amp; Discussions</a:t>
            </a:r>
          </a:p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🛡️ SENTINELAI: SECURING INDIA'S DIGITAL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